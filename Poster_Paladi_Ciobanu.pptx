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67275" cy="42794238"/>
  <p:notesSz cx="7004050" cy="9290050"/>
  <p:defaultTextStyle>
    <a:defPPr>
      <a:defRPr lang="en-US"/>
    </a:defPPr>
    <a:lvl1pPr marL="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727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455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183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49113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3639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366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094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9822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60" autoAdjust="0"/>
    <p:restoredTop sz="94676" autoAdjust="0"/>
  </p:normalViewPr>
  <p:slideViewPr>
    <p:cSldViewPr>
      <p:cViewPr varScale="1">
        <p:scale>
          <a:sx n="13" d="100"/>
          <a:sy n="13" d="100"/>
        </p:scale>
        <p:origin x="3062" y="154"/>
      </p:cViewPr>
      <p:guideLst>
        <p:guide orient="horz" pos="13479"/>
        <p:guide pos="95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9426517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0267275" cy="534927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37444959"/>
            <a:ext cx="30267275" cy="5349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/>
          </a:p>
        </p:txBody>
      </p:sp>
      <p:sp>
        <p:nvSpPr>
          <p:cNvPr id="9" name="Instructions"/>
          <p:cNvSpPr/>
          <p:nvPr userDrawn="1"/>
        </p:nvSpPr>
        <p:spPr>
          <a:xfrm>
            <a:off x="-12611365" y="0"/>
            <a:ext cx="11770607" cy="427942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7425" tIns="217425" rIns="217425" bIns="217425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880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set up for A0</a:t>
            </a:r>
            <a:r>
              <a:rPr lang="en-US" sz="6000" baseline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international paper size of 1189 mm x 841 mm</a:t>
            </a:r>
            <a:r>
              <a:rPr lang="en-US" sz="60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(46.8” high by 33.1” wide). It can be printed at</a:t>
            </a:r>
            <a:r>
              <a:rPr lang="en-US" sz="6000" baseline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70.6% for an A1 poster of 841 mm x 594 mm.</a:t>
            </a:r>
            <a:endParaRPr lang="en-US" sz="600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88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sz="60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60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60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60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6000" baseline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60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60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6000" baseline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8800" baseline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88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6000" b="1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60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6000" b="1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60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6000" baseline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60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2282"/>
              </a:spcAft>
            </a:pPr>
            <a:br>
              <a:rPr lang="en-US" sz="44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440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31108033" y="0"/>
            <a:ext cx="11770607" cy="42794238"/>
            <a:chOff x="33832800" y="0"/>
            <a:chExt cx="12801600" cy="43891200"/>
          </a:xfrm>
        </p:grpSpPr>
        <p:sp>
          <p:nvSpPr>
            <p:cNvPr id="13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88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880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880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60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6000" b="1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60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6000" b="1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60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60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6000" b="1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60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delivery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6000" baseline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International: +(1) 913-441-1410</a:t>
              </a:r>
              <a:br>
                <a:rPr lang="en-US" sz="60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6000" baseline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440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40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8425085"/>
              <a:ext cx="11904515" cy="10246926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037" y="42504519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3364" y="1713754"/>
            <a:ext cx="27240548" cy="7132373"/>
          </a:xfrm>
          <a:prstGeom prst="rect">
            <a:avLst/>
          </a:prstGeom>
        </p:spPr>
        <p:txBody>
          <a:bodyPr vert="horz" lIns="417456" tIns="208727" rIns="417456" bIns="208727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4" y="9985326"/>
            <a:ext cx="27240548" cy="28242219"/>
          </a:xfrm>
          <a:prstGeom prst="rect">
            <a:avLst/>
          </a:prstGeom>
        </p:spPr>
        <p:txBody>
          <a:bodyPr vert="horz" lIns="417456" tIns="208727" rIns="417456" bIns="208727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364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1319" y="39663922"/>
            <a:ext cx="9584637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1547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174556" rtl="0" eaLnBrk="1" latinLnBrk="0" hangingPunct="1">
        <a:spcBef>
          <a:spcPct val="0"/>
        </a:spcBef>
        <a:buNone/>
        <a:defRPr sz="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4850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69699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549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739398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248" indent="-434850" algn="l" defTabSz="4174556" rtl="0" eaLnBrk="1" latinLnBrk="0" hangingPunct="1">
        <a:spcBef>
          <a:spcPct val="20000"/>
        </a:spcBef>
        <a:buFont typeface="Arial" pitchFamily="34" charset="0"/>
        <a:buChar char="»"/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0029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67307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54585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1863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727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455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183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49113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3639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366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094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69822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10" Type="http://schemas.openxmlformats.org/officeDocument/2006/relationships/image" Target="../media/image11.jp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4570801" y="668964"/>
            <a:ext cx="21117102" cy="2047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434850" rIns="173940" bIns="43485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7600" b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Ultrasound Image Enhancement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4570801" y="3120414"/>
            <a:ext cx="21117102" cy="2228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173940" rIns="173940" bIns="173940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460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Ciobanu Andrei, Paladi Andrei</a:t>
            </a:r>
          </a:p>
          <a:p>
            <a:pPr algn="ctr" eaLnBrk="1" hangingPunct="1"/>
            <a:r>
              <a:rPr lang="en-US" sz="460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Universitatea</a:t>
            </a:r>
            <a:r>
              <a:rPr lang="en-US" sz="460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460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Tehnic</a:t>
            </a:r>
            <a:r>
              <a:rPr lang="ro-RO" sz="460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ă Gheorghe Asachi</a:t>
            </a:r>
            <a:endParaRPr lang="en-US" sz="460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1231" y="38988444"/>
            <a:ext cx="13452122" cy="2852949"/>
          </a:xfrm>
          <a:prstGeom prst="rect">
            <a:avLst/>
          </a:prstGeom>
          <a:noFill/>
        </p:spPr>
        <p:txBody>
          <a:bodyPr wrap="square" lIns="86970" tIns="86970" rIns="86970" bIns="86970" numCol="1" spcCol="434850" rtlCol="0">
            <a:noAutofit/>
          </a:bodyPr>
          <a:lstStyle/>
          <a:p>
            <a:pPr marL="434850" indent="-434850">
              <a:buFont typeface="+mj-lt"/>
              <a:buAutoNum type="arabicPeriod"/>
            </a:pPr>
            <a:r>
              <a:rPr lang="en-US" sz="1600"/>
              <a:t>  </a:t>
            </a:r>
            <a:r>
              <a:rPr lang="ro-RO" sz="1600"/>
              <a:t>Documentația </a:t>
            </a:r>
            <a:r>
              <a:rPr lang="en-US" sz="1600"/>
              <a:t>OpenCV: https://docs.opencv.org/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600"/>
              <a:t>"Bilateral Filter and Applications„: https://opencv-tutorials.com/ 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600"/>
              <a:t> "Contrast Limited Adaptive Histogram Equalization“: Zuiderveld, K.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1231" y="38130925"/>
            <a:ext cx="2815207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5400" b="1"/>
              <a:t>Referin</a:t>
            </a:r>
            <a:r>
              <a:rPr lang="ro-RO" sz="5400" b="1"/>
              <a:t>țe</a:t>
            </a:r>
            <a:endParaRPr lang="en-US" sz="5400" b="1"/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681515" y="7132373"/>
            <a:ext cx="8407576" cy="379837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3200">
                <a:latin typeface="+mn-lt"/>
              </a:rPr>
              <a:t>    Imaginile obținute prin scanări cu ultrasunete </a:t>
            </a:r>
            <a:r>
              <a:rPr lang="en-US" sz="3200">
                <a:latin typeface="+mn-lt"/>
              </a:rPr>
              <a:t>sunt </a:t>
            </a:r>
            <a:r>
              <a:rPr lang="en-US" sz="3200" err="1">
                <a:latin typeface="+mn-lt"/>
              </a:rPr>
              <a:t>adesea</a:t>
            </a:r>
            <a:r>
              <a:rPr lang="en-US" sz="3200">
                <a:latin typeface="+mn-lt"/>
              </a:rPr>
              <a:t> </a:t>
            </a:r>
            <a:r>
              <a:rPr lang="en-US" sz="3200" err="1">
                <a:latin typeface="+mn-lt"/>
              </a:rPr>
              <a:t>afectate</a:t>
            </a:r>
            <a:r>
              <a:rPr lang="en-US" sz="3200">
                <a:latin typeface="+mn-lt"/>
              </a:rPr>
              <a:t> de </a:t>
            </a:r>
            <a:r>
              <a:rPr lang="en-US" sz="3200" err="1">
                <a:latin typeface="+mn-lt"/>
              </a:rPr>
              <a:t>zgomot</a:t>
            </a:r>
            <a:r>
              <a:rPr lang="en-US" sz="3200">
                <a:latin typeface="+mn-lt"/>
              </a:rPr>
              <a:t> </a:t>
            </a:r>
            <a:r>
              <a:rPr lang="en-US" sz="3200" err="1">
                <a:latin typeface="+mn-lt"/>
              </a:rPr>
              <a:t>și</a:t>
            </a:r>
            <a:r>
              <a:rPr lang="en-US" sz="3200">
                <a:latin typeface="+mn-lt"/>
              </a:rPr>
              <a:t> </a:t>
            </a:r>
            <a:r>
              <a:rPr lang="en-US" sz="3200" err="1">
                <a:latin typeface="+mn-lt"/>
              </a:rPr>
              <a:t>artefacte</a:t>
            </a:r>
            <a:r>
              <a:rPr lang="en-US" sz="3200">
                <a:latin typeface="+mn-lt"/>
              </a:rPr>
              <a:t> care pot reduce </a:t>
            </a:r>
            <a:r>
              <a:rPr lang="en-US" sz="3200" err="1">
                <a:latin typeface="+mn-lt"/>
              </a:rPr>
              <a:t>vizibilitatea</a:t>
            </a:r>
            <a:r>
              <a:rPr lang="en-US" sz="3200">
                <a:latin typeface="+mn-lt"/>
              </a:rPr>
              <a:t> </a:t>
            </a:r>
            <a:r>
              <a:rPr lang="en-US" sz="3200" err="1">
                <a:latin typeface="+mn-lt"/>
              </a:rPr>
              <a:t>unor</a:t>
            </a:r>
            <a:r>
              <a:rPr lang="en-US" sz="3200">
                <a:latin typeface="+mn-lt"/>
              </a:rPr>
              <a:t> </a:t>
            </a:r>
            <a:r>
              <a:rPr lang="en-US" sz="3200" err="1">
                <a:latin typeface="+mn-lt"/>
              </a:rPr>
              <a:t>detalii</a:t>
            </a:r>
            <a:r>
              <a:rPr lang="en-US" sz="3200">
                <a:latin typeface="+mn-lt"/>
              </a:rPr>
              <a:t> </a:t>
            </a:r>
            <a:r>
              <a:rPr lang="en-US" sz="3200" err="1">
                <a:latin typeface="+mn-lt"/>
              </a:rPr>
              <a:t>esențiale</a:t>
            </a:r>
            <a:r>
              <a:rPr lang="en-US" sz="3200">
                <a:latin typeface="+mn-lt"/>
              </a:rPr>
              <a:t>.</a:t>
            </a:r>
            <a:endParaRPr lang="ro-RO" sz="3200">
              <a:latin typeface="+mn-lt"/>
            </a:endParaRPr>
          </a:p>
          <a:p>
            <a:pPr eaLnBrk="1" hangingPunct="1"/>
            <a:r>
              <a:rPr lang="ro-RO" sz="3200">
                <a:latin typeface="+mn-lt"/>
              </a:rPr>
              <a:t>    </a:t>
            </a:r>
            <a:r>
              <a:rPr lang="en-US" sz="3200" err="1">
                <a:latin typeface="+mn-lt"/>
              </a:rPr>
              <a:t>Proiectul</a:t>
            </a:r>
            <a:r>
              <a:rPr lang="en-US" sz="3200">
                <a:latin typeface="+mn-lt"/>
              </a:rPr>
              <a:t> </a:t>
            </a:r>
            <a:r>
              <a:rPr lang="en-US" sz="3200" err="1">
                <a:latin typeface="+mn-lt"/>
              </a:rPr>
              <a:t>nostru</a:t>
            </a:r>
            <a:r>
              <a:rPr lang="en-US" sz="3200">
                <a:latin typeface="+mn-lt"/>
              </a:rPr>
              <a:t> se </a:t>
            </a:r>
            <a:r>
              <a:rPr lang="en-US" sz="3200" err="1">
                <a:latin typeface="+mn-lt"/>
              </a:rPr>
              <a:t>bazează</a:t>
            </a:r>
            <a:r>
              <a:rPr lang="en-US" sz="3200">
                <a:latin typeface="+mn-lt"/>
              </a:rPr>
              <a:t> pe </a:t>
            </a:r>
            <a:r>
              <a:rPr lang="en-US" sz="3200" err="1">
                <a:latin typeface="+mn-lt"/>
              </a:rPr>
              <a:t>îmbunătățirea</a:t>
            </a:r>
            <a:r>
              <a:rPr lang="en-US" sz="3200">
                <a:latin typeface="+mn-lt"/>
              </a:rPr>
              <a:t> </a:t>
            </a:r>
            <a:r>
              <a:rPr lang="en-US" sz="3200" err="1">
                <a:latin typeface="+mn-lt"/>
              </a:rPr>
              <a:t>imaginilor</a:t>
            </a:r>
            <a:r>
              <a:rPr lang="en-US" sz="3200">
                <a:latin typeface="+mn-lt"/>
              </a:rPr>
              <a:t> </a:t>
            </a:r>
            <a:r>
              <a:rPr lang="en-US" sz="3200" err="1">
                <a:latin typeface="+mn-lt"/>
              </a:rPr>
              <a:t>rezultate</a:t>
            </a:r>
            <a:r>
              <a:rPr lang="en-US" sz="3200">
                <a:latin typeface="+mn-lt"/>
              </a:rPr>
              <a:t> din </a:t>
            </a:r>
            <a:r>
              <a:rPr lang="en-US" sz="3200" err="1">
                <a:latin typeface="+mn-lt"/>
              </a:rPr>
              <a:t>scanarea</a:t>
            </a:r>
            <a:r>
              <a:rPr lang="en-US" sz="3200">
                <a:latin typeface="+mn-lt"/>
              </a:rPr>
              <a:t> cu </a:t>
            </a:r>
            <a:r>
              <a:rPr lang="en-US" sz="3200" err="1">
                <a:latin typeface="+mn-lt"/>
              </a:rPr>
              <a:t>ultrasunete</a:t>
            </a:r>
            <a:r>
              <a:rPr lang="en-US" sz="3200">
                <a:latin typeface="+mn-lt"/>
              </a:rPr>
              <a:t>, o </a:t>
            </a:r>
            <a:r>
              <a:rPr lang="en-US" sz="3200" err="1">
                <a:latin typeface="+mn-lt"/>
              </a:rPr>
              <a:t>metodă</a:t>
            </a:r>
            <a:r>
              <a:rPr lang="en-US" sz="3200">
                <a:latin typeface="+mn-lt"/>
              </a:rPr>
              <a:t> non-</a:t>
            </a:r>
            <a:r>
              <a:rPr lang="en-US" sz="3200" err="1">
                <a:latin typeface="+mn-lt"/>
              </a:rPr>
              <a:t>invazivă</a:t>
            </a:r>
            <a:r>
              <a:rPr lang="en-US" sz="3200">
                <a:latin typeface="+mn-lt"/>
              </a:rPr>
              <a:t> </a:t>
            </a:r>
            <a:r>
              <a:rPr lang="en-US" sz="3200" err="1">
                <a:latin typeface="+mn-lt"/>
              </a:rPr>
              <a:t>și</a:t>
            </a:r>
            <a:r>
              <a:rPr lang="en-US" sz="3200">
                <a:latin typeface="+mn-lt"/>
              </a:rPr>
              <a:t> </a:t>
            </a:r>
            <a:r>
              <a:rPr lang="en-US" sz="3200" err="1">
                <a:latin typeface="+mn-lt"/>
              </a:rPr>
              <a:t>accesibilă</a:t>
            </a:r>
            <a:r>
              <a:rPr lang="en-US" sz="3200">
                <a:latin typeface="+mn-lt"/>
              </a:rPr>
              <a:t> </a:t>
            </a:r>
            <a:r>
              <a:rPr lang="en-US" sz="3200" err="1">
                <a:latin typeface="+mn-lt"/>
              </a:rPr>
              <a:t>folosită</a:t>
            </a:r>
            <a:r>
              <a:rPr lang="en-US" sz="3200">
                <a:latin typeface="+mn-lt"/>
              </a:rPr>
              <a:t> </a:t>
            </a:r>
            <a:r>
              <a:rPr lang="en-US" sz="3200" err="1">
                <a:latin typeface="+mn-lt"/>
              </a:rPr>
              <a:t>în</a:t>
            </a:r>
            <a:r>
              <a:rPr lang="en-US" sz="3200">
                <a:latin typeface="+mn-lt"/>
              </a:rPr>
              <a:t> principal </a:t>
            </a:r>
            <a:r>
              <a:rPr lang="en-US" sz="3200" err="1">
                <a:latin typeface="+mn-lt"/>
              </a:rPr>
              <a:t>în</a:t>
            </a:r>
            <a:r>
              <a:rPr lang="en-US" sz="3200">
                <a:latin typeface="+mn-lt"/>
              </a:rPr>
              <a:t> </a:t>
            </a:r>
            <a:r>
              <a:rPr lang="en-US" sz="3200" err="1">
                <a:latin typeface="+mn-lt"/>
              </a:rPr>
              <a:t>domeniul</a:t>
            </a:r>
            <a:r>
              <a:rPr lang="en-US" sz="3200">
                <a:latin typeface="+mn-lt"/>
              </a:rPr>
              <a:t> medical.</a:t>
            </a:r>
            <a:endParaRPr lang="ro-RO" sz="3200">
              <a:latin typeface="+mn-lt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681515" y="6240826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Introducere</a:t>
            </a:r>
            <a:endParaRPr lang="en-US" sz="5400" b="1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 Box 194"/>
          <p:cNvSpPr txBox="1">
            <a:spLocks noChangeArrowheads="1"/>
          </p:cNvSpPr>
          <p:nvPr/>
        </p:nvSpPr>
        <p:spPr bwMode="auto">
          <a:xfrm>
            <a:off x="20178184" y="28188933"/>
            <a:ext cx="8407576" cy="287504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pt-BR" sz="3200">
                <a:latin typeface="+mn-lt"/>
              </a:rPr>
              <a:t>Automatizarea procesului de selectare a filtrelor și setărilor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200">
                <a:latin typeface="+mn-lt"/>
              </a:rPr>
              <a:t>Adăugarea unui modul de evaluare automat</a:t>
            </a:r>
            <a:r>
              <a:rPr lang="ro-RO" sz="3200">
                <a:latin typeface="+mn-lt"/>
              </a:rPr>
              <a:t>ă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endParaRPr lang="en-US" sz="3200">
              <a:latin typeface="+mn-lt"/>
            </a:endParaRP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endParaRPr lang="en-US" sz="3600"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651352" y="19038568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ro-RO" sz="54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Limitări</a:t>
            </a:r>
            <a:endParaRPr lang="en-US" sz="5400" b="1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 Box 192"/>
          <p:cNvSpPr txBox="1">
            <a:spLocks noChangeArrowheads="1"/>
          </p:cNvSpPr>
          <p:nvPr/>
        </p:nvSpPr>
        <p:spPr bwMode="auto">
          <a:xfrm>
            <a:off x="20178184" y="13144269"/>
            <a:ext cx="8407576" cy="47832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3200">
                <a:latin typeface="Calibri" pitchFamily="34" charset="0"/>
              </a:rPr>
              <a:t>    </a:t>
            </a:r>
            <a:r>
              <a:rPr lang="en-US" sz="3200" err="1">
                <a:latin typeface="Calibri" pitchFamily="34" charset="0"/>
              </a:rPr>
              <a:t>Aplica</a:t>
            </a:r>
            <a:r>
              <a:rPr lang="ro-RO" sz="3200">
                <a:latin typeface="Calibri" pitchFamily="34" charset="0"/>
              </a:rPr>
              <a:t>ția utilizează o interfață implementată in Python, care permite încărcarea, prelucrarea și salvarea imaginilor. </a:t>
            </a:r>
          </a:p>
          <a:p>
            <a:pPr eaLnBrk="1" hangingPunct="1"/>
            <a:r>
              <a:rPr lang="ro-RO" sz="3200">
                <a:latin typeface="Calibri" pitchFamily="34" charset="0"/>
              </a:rPr>
              <a:t>    Soluția se concentrează pe îmbunătățirea calității imaginilor prin aplicarea unei serii de filtre, precum</a:t>
            </a:r>
            <a:r>
              <a:rPr lang="en-US" sz="3200">
                <a:latin typeface="Calibri" pitchFamily="34" charset="0"/>
              </a:rPr>
              <a:t>: </a:t>
            </a:r>
            <a:r>
              <a:rPr lang="ro-RO" sz="3200">
                <a:latin typeface="Calibri" pitchFamily="34" charset="0"/>
              </a:rPr>
              <a:t>filtre spațiale (Median, Gaussian, Bilateral), tehnici de ajustare a contrastului, transformări morfologice si metode bazate pe Transformata Fourier.</a:t>
            </a:r>
            <a:endParaRPr lang="en-US" sz="3200">
              <a:latin typeface="Calibri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0178184" y="12252561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ro-RO" sz="54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Soluția propusă</a:t>
            </a:r>
            <a:endParaRPr lang="en-US" sz="5400" b="1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 Box 193"/>
          <p:cNvSpPr txBox="1">
            <a:spLocks noChangeArrowheads="1"/>
          </p:cNvSpPr>
          <p:nvPr/>
        </p:nvSpPr>
        <p:spPr bwMode="auto">
          <a:xfrm>
            <a:off x="20178184" y="32386412"/>
            <a:ext cx="8407576" cy="330593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3200">
                <a:latin typeface="+mn-lt"/>
              </a:rPr>
              <a:t>    </a:t>
            </a:r>
            <a:r>
              <a:rPr lang="en-US" sz="3200">
                <a:latin typeface="+mn-lt"/>
              </a:rPr>
              <a:t>Proiectul „Ultrasound Image Enhancement” oferă o soluție practică pentru îmbunătățirea imaginilor ecografice, contribuind la reducerea zgomotului și evidențierea detaliilor relevante. Deși există anumite limitări, precum necesitatea unor cunoștințe tehnice din partea utilizatorului</a:t>
            </a:r>
            <a:r>
              <a:rPr lang="ro-RO" sz="3200">
                <a:latin typeface="+mn-lt"/>
              </a:rPr>
              <a:t>.</a:t>
            </a:r>
            <a:endParaRPr lang="en-US" sz="3600">
              <a:latin typeface="+mn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0178184" y="31494865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ro-RO" sz="54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Concluzie</a:t>
            </a:r>
            <a:endParaRPr lang="en-US" sz="5400" b="1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Box 190"/>
          <p:cNvSpPr txBox="1">
            <a:spLocks noChangeArrowheads="1"/>
          </p:cNvSpPr>
          <p:nvPr/>
        </p:nvSpPr>
        <p:spPr bwMode="auto">
          <a:xfrm>
            <a:off x="1651352" y="19930115"/>
            <a:ext cx="8407576" cy="626058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ro-RO" sz="3200">
                <a:latin typeface="+mn-lt"/>
              </a:rPr>
              <a:t>    </a:t>
            </a:r>
            <a:r>
              <a:rPr lang="en-US" sz="3200">
                <a:latin typeface="+mn-lt"/>
              </a:rPr>
              <a:t>Principala limitare constă în necesitatea unui operator cu cunoștințe despre algoritmi și setările lor, ceea ce poate duce la erori umane. De asemenea, introducerea manuală a variabilelor pentru fiecare algoritm crește riscul de greșeli și timpul de procesare, limitând accesibilitatea pentru utilizatorii fără experiență tehnică.</a:t>
            </a:r>
          </a:p>
          <a:p>
            <a:r>
              <a:rPr lang="ro-RO" sz="3200">
                <a:latin typeface="+mn-lt"/>
              </a:rPr>
              <a:t>    </a:t>
            </a:r>
            <a:r>
              <a:rPr lang="en-US" sz="3200">
                <a:latin typeface="+mn-lt"/>
              </a:rPr>
              <a:t>O altă limitare constă în calitatea imaginilor de intrare. Dacă acestea sunt prea zgomotoase sau de o rezoluție scăzută, algoritmii disponibili pot să nu ofere îmbunătățiri semnificative.</a:t>
            </a:r>
            <a:endParaRPr lang="ro-RO" sz="3200">
              <a:latin typeface="+mn-lt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0178184" y="27297386"/>
            <a:ext cx="840757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ro-RO" sz="54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Posibile îmbunătățiri</a:t>
            </a:r>
            <a:endParaRPr lang="en-US" sz="5400" b="1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" name="Content Placeholder 18" descr="Logo-tuiasi">
            <a:extLst>
              <a:ext uri="{FF2B5EF4-FFF2-40B4-BE49-F238E27FC236}">
                <a16:creationId xmlns:a16="http://schemas.microsoft.com/office/drawing/2014/main" id="{9CA23D35-C964-39E1-D187-4ABFFAC64B34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5414" y="424847"/>
            <a:ext cx="2838450" cy="3810000"/>
          </a:xfrm>
          <a:prstGeom prst="rect">
            <a:avLst/>
          </a:prstGeom>
        </p:spPr>
      </p:pic>
      <p:pic>
        <p:nvPicPr>
          <p:cNvPr id="7" name="Content Placeholder 18" descr="Logo-tuiasi">
            <a:extLst>
              <a:ext uri="{FF2B5EF4-FFF2-40B4-BE49-F238E27FC236}">
                <a16:creationId xmlns:a16="http://schemas.microsoft.com/office/drawing/2014/main" id="{808101D0-A6EF-062F-FACD-69FB1C9C598F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840" y="424847"/>
            <a:ext cx="2838450" cy="3810000"/>
          </a:xfrm>
          <a:prstGeom prst="rect">
            <a:avLst/>
          </a:prstGeom>
        </p:spPr>
      </p:pic>
      <p:sp>
        <p:nvSpPr>
          <p:cNvPr id="41" name="Text Box 189">
            <a:extLst>
              <a:ext uri="{FF2B5EF4-FFF2-40B4-BE49-F238E27FC236}">
                <a16:creationId xmlns:a16="http://schemas.microsoft.com/office/drawing/2014/main" id="{7BC022E6-EA38-D9EC-F56D-C6304051F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1789" y="5808028"/>
            <a:ext cx="11708977" cy="564406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ro-RO" sz="3200">
              <a:latin typeface="+mn-lt"/>
            </a:endParaRPr>
          </a:p>
        </p:txBody>
      </p:sp>
      <p:pic>
        <p:nvPicPr>
          <p:cNvPr id="42" name="Picture 41" descr="A close-up of an ultrasound&#10;&#10;Description automatically generated">
            <a:extLst>
              <a:ext uri="{FF2B5EF4-FFF2-40B4-BE49-F238E27FC236}">
                <a16:creationId xmlns:a16="http://schemas.microsoft.com/office/drawing/2014/main" id="{5CBD50F9-0E67-9910-F7D4-57071A038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4571" y="6280886"/>
            <a:ext cx="4755173" cy="4755173"/>
          </a:xfrm>
          <a:prstGeom prst="rect">
            <a:avLst/>
          </a:prstGeom>
        </p:spPr>
      </p:pic>
      <p:pic>
        <p:nvPicPr>
          <p:cNvPr id="43" name="Picture 42" descr="A sonogram of a baby&#10;&#10;Description automatically generated">
            <a:extLst>
              <a:ext uri="{FF2B5EF4-FFF2-40B4-BE49-F238E27FC236}">
                <a16:creationId xmlns:a16="http://schemas.microsoft.com/office/drawing/2014/main" id="{C3994716-BDB4-7E1A-4AE9-D15AD40B5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7944" y="6280886"/>
            <a:ext cx="4765312" cy="4765312"/>
          </a:xfrm>
          <a:prstGeom prst="rect">
            <a:avLst/>
          </a:prstGeom>
        </p:spPr>
      </p:pic>
      <p:sp>
        <p:nvSpPr>
          <p:cNvPr id="46" name="Text Box 189">
            <a:extLst>
              <a:ext uri="{FF2B5EF4-FFF2-40B4-BE49-F238E27FC236}">
                <a16:creationId xmlns:a16="http://schemas.microsoft.com/office/drawing/2014/main" id="{F9865E66-CEA4-8660-FEF1-B0F888C3C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1516" y="12088532"/>
            <a:ext cx="16195322" cy="607706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ro-RO" sz="3200">
              <a:latin typeface="+mn-lt"/>
            </a:endParaRPr>
          </a:p>
        </p:txBody>
      </p:sp>
      <p:pic>
        <p:nvPicPr>
          <p:cNvPr id="47" name="Picture 46" descr="A close-up of a sonogram&#10;&#10;Description automatically generated">
            <a:extLst>
              <a:ext uri="{FF2B5EF4-FFF2-40B4-BE49-F238E27FC236}">
                <a16:creationId xmlns:a16="http://schemas.microsoft.com/office/drawing/2014/main" id="{7BA6E74B-C671-B576-430C-586CAA6177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103" y="12719760"/>
            <a:ext cx="7010400" cy="4919162"/>
          </a:xfrm>
          <a:prstGeom prst="rect">
            <a:avLst/>
          </a:prstGeom>
        </p:spPr>
      </p:pic>
      <p:pic>
        <p:nvPicPr>
          <p:cNvPr id="48" name="Picture 47" descr="A close-up of a sonogram&#10;&#10;Description automatically generated">
            <a:extLst>
              <a:ext uri="{FF2B5EF4-FFF2-40B4-BE49-F238E27FC236}">
                <a16:creationId xmlns:a16="http://schemas.microsoft.com/office/drawing/2014/main" id="{4AE93C62-F93D-3B60-8B1D-E9A6AD2B9F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762" y="12719760"/>
            <a:ext cx="7010400" cy="4919162"/>
          </a:xfrm>
          <a:prstGeom prst="rect">
            <a:avLst/>
          </a:prstGeom>
        </p:spPr>
      </p:pic>
      <p:sp>
        <p:nvSpPr>
          <p:cNvPr id="54" name="Text Box 189">
            <a:extLst>
              <a:ext uri="{FF2B5EF4-FFF2-40B4-BE49-F238E27FC236}">
                <a16:creationId xmlns:a16="http://schemas.microsoft.com/office/drawing/2014/main" id="{6304ED1A-2B9A-A3C2-53D8-5DDDFA5C2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3237" y="18995128"/>
            <a:ext cx="16602217" cy="719557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ro-RO" sz="3200">
              <a:latin typeface="+mn-lt"/>
            </a:endParaRPr>
          </a:p>
        </p:txBody>
      </p:sp>
      <p:pic>
        <p:nvPicPr>
          <p:cNvPr id="21" name="Picture 20" descr="A ultrasound of a baby&#10;&#10;Description automatically generated">
            <a:extLst>
              <a:ext uri="{FF2B5EF4-FFF2-40B4-BE49-F238E27FC236}">
                <a16:creationId xmlns:a16="http://schemas.microsoft.com/office/drawing/2014/main" id="{D8E73CFE-B1A2-F5C1-5645-65906818B5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3837" y="19752120"/>
            <a:ext cx="7167091" cy="5720671"/>
          </a:xfrm>
          <a:prstGeom prst="rect">
            <a:avLst/>
          </a:prstGeom>
        </p:spPr>
      </p:pic>
      <p:pic>
        <p:nvPicPr>
          <p:cNvPr id="56" name="Picture 55" descr="A ultrasound of a fetus&#10;&#10;Description automatically generated">
            <a:extLst>
              <a:ext uri="{FF2B5EF4-FFF2-40B4-BE49-F238E27FC236}">
                <a16:creationId xmlns:a16="http://schemas.microsoft.com/office/drawing/2014/main" id="{35B741E0-C020-93F3-E5A8-CF48A81488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6163" y="19752120"/>
            <a:ext cx="7167091" cy="5720671"/>
          </a:xfrm>
          <a:prstGeom prst="rect">
            <a:avLst/>
          </a:prstGeom>
        </p:spPr>
      </p:pic>
      <p:sp>
        <p:nvSpPr>
          <p:cNvPr id="59" name="Text Box 189">
            <a:extLst>
              <a:ext uri="{FF2B5EF4-FFF2-40B4-BE49-F238E27FC236}">
                <a16:creationId xmlns:a16="http://schemas.microsoft.com/office/drawing/2014/main" id="{949C27AD-A128-A5C5-FF3E-EF3225333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9637" y="28314311"/>
            <a:ext cx="14753200" cy="652883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ro-RO" sz="3200">
              <a:latin typeface="+mn-lt"/>
            </a:endParaRPr>
          </a:p>
        </p:txBody>
      </p:sp>
      <p:pic>
        <p:nvPicPr>
          <p:cNvPr id="17" name="Picture 16" descr="A ultrasound of a fetus&#10;&#10;Description automatically generated">
            <a:extLst>
              <a:ext uri="{FF2B5EF4-FFF2-40B4-BE49-F238E27FC236}">
                <a16:creationId xmlns:a16="http://schemas.microsoft.com/office/drawing/2014/main" id="{85CD8B60-2318-C53E-512E-91BF07DD87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371" y="28935343"/>
            <a:ext cx="6473595" cy="5286769"/>
          </a:xfrm>
          <a:prstGeom prst="rect">
            <a:avLst/>
          </a:prstGeom>
        </p:spPr>
      </p:pic>
      <p:pic>
        <p:nvPicPr>
          <p:cNvPr id="58" name="Picture 57" descr="A ultrasound of a person's body&#10;&#10;Description automatically generated">
            <a:extLst>
              <a:ext uri="{FF2B5EF4-FFF2-40B4-BE49-F238E27FC236}">
                <a16:creationId xmlns:a16="http://schemas.microsoft.com/office/drawing/2014/main" id="{155AE068-4A94-89FB-4C6F-DEEF72A956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671" y="28935343"/>
            <a:ext cx="6473595" cy="528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2659</TotalTime>
  <Words>302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A0/A1</dc:title>
  <dc:creator>Jay Larson</dc:creator>
  <dc:description>Quality poster printing
www.genigraphics.com
1-800-790-4001</dc:description>
  <cp:lastModifiedBy>andre</cp:lastModifiedBy>
  <cp:revision>64</cp:revision>
  <cp:lastPrinted>2025-01-08T21:51:23Z</cp:lastPrinted>
  <dcterms:created xsi:type="dcterms:W3CDTF">2013-02-10T21:14:48Z</dcterms:created>
  <dcterms:modified xsi:type="dcterms:W3CDTF">2025-01-08T21:51:30Z</dcterms:modified>
</cp:coreProperties>
</file>